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69b748115b40a6" /><Relationship Type="http://schemas.openxmlformats.org/officeDocument/2006/relationships/extended-properties" Target="/docProps/app.xml" Id="Rb45a29fa43ab4cbd" /><Relationship Type="http://schemas.openxmlformats.org/officeDocument/2006/relationships/officeDocument" Target="/ppt/presentation.xml" Id="R84bac74b9e6a4a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e81edd22fe4572"/>
  </p:sldMasterIdLst>
  <p:notesMasterIdLst>
    <p:notesMasterId xmlns:r="http://schemas.openxmlformats.org/officeDocument/2006/relationships" r:id="Rc51de329bb1c4644"/>
  </p:notesMasterIdLst>
  <p:sldIdLst>
    <p:sldId xmlns:r="http://schemas.openxmlformats.org/officeDocument/2006/relationships" id="256" r:id="Rdda3cad53b894bb3"/>
    <p:sldId xmlns:r="http://schemas.openxmlformats.org/officeDocument/2006/relationships" id="257" r:id="R4be746c7da1f44d3"/>
    <p:sldId xmlns:r="http://schemas.openxmlformats.org/officeDocument/2006/relationships" id="258" r:id="R64037f6230ec49e4"/>
    <p:sldId xmlns:r="http://schemas.openxmlformats.org/officeDocument/2006/relationships" id="259" r:id="Rd33a679b813d46d3"/>
    <p:sldId xmlns:r="http://schemas.openxmlformats.org/officeDocument/2006/relationships" id="260" r:id="R55dd8b37b8c946bb"/>
    <p:sldId xmlns:r="http://schemas.openxmlformats.org/officeDocument/2006/relationships" id="261" r:id="R52f19d0d1e5f4fb6"/>
    <p:sldId xmlns:r="http://schemas.openxmlformats.org/officeDocument/2006/relationships" id="262" r:id="R32b5c7fbfa554a24"/>
    <p:sldId xmlns:r="http://schemas.openxmlformats.org/officeDocument/2006/relationships" id="263" r:id="R86c6f4ff31114a7f"/>
    <p:sldId xmlns:r="http://schemas.openxmlformats.org/officeDocument/2006/relationships" id="264" r:id="R7962ab45901d4247"/>
    <p:sldId xmlns:r="http://schemas.openxmlformats.org/officeDocument/2006/relationships" id="265" r:id="R22af5943ff4c40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81edd22fe4572" /><Relationship Type="http://schemas.openxmlformats.org/officeDocument/2006/relationships/theme" Target="/ppt/theme/theme1.xml" Id="Raccf0c42e3d244d6" /><Relationship Type="http://schemas.openxmlformats.org/officeDocument/2006/relationships/notesMaster" Target="/ppt/notesMasters/notesMaster1.xml" Id="Rc51de329bb1c4644" /><Relationship Type="http://schemas.openxmlformats.org/officeDocument/2006/relationships/presProps" Target="/ppt/presProps.xml" Id="Re083392f8b9442d9" /><Relationship Type="http://schemas.openxmlformats.org/officeDocument/2006/relationships/viewProps" Target="/ppt/viewProps.xml" Id="R4c6c0767d7a64644" /><Relationship Type="http://schemas.openxmlformats.org/officeDocument/2006/relationships/tableStyles" Target="/ppt/tableStyles.xml" Id="R1666a12f0acd4a9a" /><Relationship Type="http://schemas.openxmlformats.org/officeDocument/2006/relationships/slide" Target="/ppt/slides/slide1.xml" Id="Rdda3cad53b894bb3" /><Relationship Type="http://schemas.openxmlformats.org/officeDocument/2006/relationships/slide" Target="/ppt/slides/slide2.xml" Id="R4be746c7da1f44d3" /><Relationship Type="http://schemas.openxmlformats.org/officeDocument/2006/relationships/slide" Target="/ppt/slides/slide3.xml" Id="R64037f6230ec49e4" /><Relationship Type="http://schemas.openxmlformats.org/officeDocument/2006/relationships/slide" Target="/ppt/slides/slide4.xml" Id="Rd33a679b813d46d3" /><Relationship Type="http://schemas.openxmlformats.org/officeDocument/2006/relationships/slide" Target="/ppt/slides/slide5.xml" Id="R55dd8b37b8c946bb" /><Relationship Type="http://schemas.openxmlformats.org/officeDocument/2006/relationships/slide" Target="/ppt/slides/slide6.xml" Id="R52f19d0d1e5f4fb6" /><Relationship Type="http://schemas.openxmlformats.org/officeDocument/2006/relationships/slide" Target="/ppt/slides/slide7.xml" Id="R32b5c7fbfa554a24" /><Relationship Type="http://schemas.openxmlformats.org/officeDocument/2006/relationships/slide" Target="/ppt/slides/slide8.xml" Id="R86c6f4ff31114a7f" /><Relationship Type="http://schemas.openxmlformats.org/officeDocument/2006/relationships/slide" Target="/ppt/slides/slide9.xml" Id="R7962ab45901d4247" /><Relationship Type="http://schemas.openxmlformats.org/officeDocument/2006/relationships/slide" Target="/ppt/slides/slide10.xml" Id="R22af5943ff4c40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fd49ccdee6e42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d016f7d90149cf" /><Relationship Type="http://schemas.openxmlformats.org/officeDocument/2006/relationships/notesMaster" Target="/ppt/notesMasters/notesMaster1.xml" Id="R7afe28b8d5ae41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74e2e5d2084216" /><Relationship Type="http://schemas.openxmlformats.org/officeDocument/2006/relationships/notesMaster" Target="/ppt/notesMasters/notesMaster1.xml" Id="Rd4ec7290a0464e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80b33f2e8c4745" /><Relationship Type="http://schemas.openxmlformats.org/officeDocument/2006/relationships/notesMaster" Target="/ppt/notesMasters/notesMaster1.xml" Id="R6adc10767ca648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ca6d35e53d414c" /><Relationship Type="http://schemas.openxmlformats.org/officeDocument/2006/relationships/notesMaster" Target="/ppt/notesMasters/notesMaster1.xml" Id="R4ba095b1e40248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3863af34fa4db3" /><Relationship Type="http://schemas.openxmlformats.org/officeDocument/2006/relationships/notesMaster" Target="/ppt/notesMasters/notesMaster1.xml" Id="R08d6b068a18644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c99345bc9145dc" /><Relationship Type="http://schemas.openxmlformats.org/officeDocument/2006/relationships/notesMaster" Target="/ppt/notesMasters/notesMaster1.xml" Id="R06ce2b2aa62543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aa6cad075b4e7b" /><Relationship Type="http://schemas.openxmlformats.org/officeDocument/2006/relationships/notesMaster" Target="/ppt/notesMasters/notesMaster1.xml" Id="R65b7927fda9b40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1353e63f394290" /><Relationship Type="http://schemas.openxmlformats.org/officeDocument/2006/relationships/notesMaster" Target="/ppt/notesMasters/notesMaster1.xml" Id="R686a111a9a9042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4e53a6a4884d5e" /><Relationship Type="http://schemas.openxmlformats.org/officeDocument/2006/relationships/notesMaster" Target="/ppt/notesMasters/notesMaster1.xml" Id="R9d8c2ee220454d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48060cbd324b52" /><Relationship Type="http://schemas.openxmlformats.org/officeDocument/2006/relationships/notesMaster" Target="/ppt/notesMasters/notesMaster1.xml" Id="R48d5bad5eaf14e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35bc653f941d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612c56b11b840bb" /><Relationship Type="http://schemas.openxmlformats.org/officeDocument/2006/relationships/slideLayout" Target="/ppt/slideLayouts/slideLayout2.xml" Id="Rfde414ca20f143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e414ca20f143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387ac2b3f844ef" /><Relationship Type="http://schemas.openxmlformats.org/officeDocument/2006/relationships/image" Target="/ppt/media/image.png" Id="R0c77b08d04234b3e" /><Relationship Type="http://schemas.openxmlformats.org/officeDocument/2006/relationships/image" Target="/ppt/media/image2.png" Id="R127f357d9a0c4842" /><Relationship Type="http://schemas.openxmlformats.org/officeDocument/2006/relationships/notesSlide" Target="/ppt/notesSlides/notesSlide1.xml" Id="Ref9980dd428442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a5d77698314f8e" /><Relationship Type="http://schemas.openxmlformats.org/officeDocument/2006/relationships/notesSlide" Target="/ppt/notesSlides/notesSlide2.xml" Id="R778c38c504fa46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749128570d4e22" /><Relationship Type="http://schemas.openxmlformats.org/officeDocument/2006/relationships/notesSlide" Target="/ppt/notesSlides/notesSlide3.xml" Id="Rb606cc64410341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3166d9dd894774" /><Relationship Type="http://schemas.openxmlformats.org/officeDocument/2006/relationships/notesSlide" Target="/ppt/notesSlides/notesSlide4.xml" Id="Rb2fb7fea2bad4b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8de1bc58e64278" /><Relationship Type="http://schemas.openxmlformats.org/officeDocument/2006/relationships/notesSlide" Target="/ppt/notesSlides/notesSlide5.xml" Id="Rc84a28fbf84948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b893f94fec4a5a" /><Relationship Type="http://schemas.openxmlformats.org/officeDocument/2006/relationships/notesSlide" Target="/ppt/notesSlides/notesSlide6.xml" Id="Rcfab9c7e2b6f45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5b318dbce341f8" /><Relationship Type="http://schemas.openxmlformats.org/officeDocument/2006/relationships/notesSlide" Target="/ppt/notesSlides/notesSlide7.xml" Id="R47d7ffed20a843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a8ed1980f145a1" /><Relationship Type="http://schemas.openxmlformats.org/officeDocument/2006/relationships/notesSlide" Target="/ppt/notesSlides/notesSlide8.xml" Id="Ra290e6891a4f45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77a8001c0c43b0" /><Relationship Type="http://schemas.openxmlformats.org/officeDocument/2006/relationships/notesSlide" Target="/ppt/notesSlides/notesSlide9.xml" Id="R65770e3ca08c42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33120efa1a4c37" /><Relationship Type="http://schemas.openxmlformats.org/officeDocument/2006/relationships/notesSlide" Target="/ppt/notesSlides/notesSlide10.xml" Id="R5f71e333e3864b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0D8B29-FC41-4FDC-8F93-A1E15B9F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6832A-1C99-4013-971D-3608697B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10-slide pitch deck | June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A9D29-BE1B-41FB-B543-9E5F0020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4185C-8077-4330-9723-6207AFE8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4743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7b08d04234b3e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9550" y="723900"/>
            <a:ext cx="3714750" cy="2609850"/>
          </a:xfrm>
          <a:prstGeom xmlns:a="http://schemas.openxmlformats.org/drawingml/2006/main" prst="roundRect">
            <a:avLst>
              <a:gd name="adj" fmla="val 292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7DBC3-3F87-4EB9-A173-55E42B6C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09600"/>
            <a:ext cx="3905250" cy="2838450"/>
          </a:xfrm>
          <a:prstGeom xmlns:a="http://schemas.openxmlformats.org/drawingml/2006/main" prst="roundRect">
            <a:avLst>
              <a:gd name="adj" fmla="val 268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f357d9a0c4842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829050"/>
            <a:ext cx="3714750" cy="2609850"/>
          </a:xfrm>
          <a:prstGeom xmlns:a="http://schemas.openxmlformats.org/drawingml/2006/main" prst="roundRect">
            <a:avLst>
              <a:gd name="adj" fmla="val 292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BB532-3405-4291-BB97-8C4D74BC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3905250" cy="2838450"/>
          </a:xfrm>
          <a:prstGeom xmlns:a="http://schemas.openxmlformats.org/drawingml/2006/main" prst="roundRect">
            <a:avLst>
              <a:gd name="adj" fmla="val 268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2F1F6-A66B-4A23-A587-11AE560F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PITCH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29801-BC7C-4A01-AAB8-0D6BD23B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191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402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Build the app with a product design process, not a handoff chain.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7D7CD-7541-41FF-AEBF-3396D257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The playbook gives us a simple path: learn what people need, test the experience, build the right version, then improve it after launch.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939F4-B024-49D8-9B9B-84F44A11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428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766DB-6909-4FC7-9189-DB76384C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F3DBD-3D61-40D0-AFAB-508120EC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Current prototype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4F445-2E1E-4CE0-9776-B43848F2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624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4A630-950E-4534-A30C-353E333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2912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5E5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5E57"/>
                </a:solidFill>
                <a:latin typeface="Aptos"/>
                <a:ea typeface="Aptos"/>
                <a:cs typeface="Aptos"/>
              </a:rPr>
              <a:t>Fully functional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43B94-584E-4719-8819-715DCB28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1695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5A2B2-C19D-455F-A96D-004583BE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291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Clear build 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95BD3-2122-4A9D-BC32-0DE29E5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561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Decision needed: internal separate teams or one external agency team.</a:t>
            </a:r>
          </a:p>
        </p:txBody>
      </p:sp>
    </p:spTree>
    <p:extLst>
      <p:ext uri="{BB962C8B-B14F-4D97-AF65-F5344CB8AC3E}">
        <p14:creationId xmlns:p14="http://schemas.microsoft.com/office/powerpoint/2010/main" val="798819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938E7A-533C-41EE-9E0D-048A60B8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B7BA8-92D1-4E70-B4C8-38EAE46D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Product Design Digital Playbook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66564-0295-480B-BE9E-6060F8CA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F1B6A-5289-48A0-93EB-07AE0414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WHY THE PLAYBOOK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7C7E8-B717-4561-82D6-8C4C01E1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91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The biggest risk is building the wrong thing well.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0BE5F-EF9A-4F91-8CD1-69359448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The app already has useful pieces. The next step is turning those pieces into a product people trust and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B9CDA-8C25-4EE0-8A7D-D00CAE2B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3219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1E0C3-3CE7-4F11-8C35-54AE5144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9480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D9480F"/>
                </a:solidFill>
                <a:latin typeface="Aptos"/>
                <a:ea typeface="Aptos"/>
                <a:cs typeface="Aptos"/>
              </a:rPr>
              <a:t>Without a shared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285A0-9D65-4671-8A83-0BE3098F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838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Teams can work hard and still miss each other. Research sits apart from design. Design sits apart from build. Launch arrives with unanswered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F63AC-83A9-47B8-B0F0-2F6EBA35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3219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6F4BA-FC1E-4510-B62D-9A4E704F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003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5E5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75E57"/>
                </a:solidFill>
                <a:latin typeface="Aptos"/>
                <a:ea typeface="Aptos"/>
                <a:cs typeface="Aptos"/>
              </a:rPr>
              <a:t>With the playbook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D5B74-FD82-4323-9F17-41C0AFE0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81350"/>
            <a:ext cx="2838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Each phase ends with a clear decision. Everyone can see what we learned, what we chose, what is ready to build, and what still needs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15DA8-5AAA-40E4-8550-4602E28C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4765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11AC4-1048-4028-A308-E197AF10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76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improves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9E035-EF81-48EC-A327-959FA210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90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E2A6A-19D1-4F04-8AAC-225F3782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Better product choices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C8299-DD77-438D-AED1-DD203CD1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4721B-B7E3-4418-B723-C3C6783E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Less rework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393E3-AA93-4123-A638-7264B298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2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70D29-9765-46CC-A688-B318CB81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529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Clearer launch 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9A78D-3F10-4E6C-AD0E-1D9B96E8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EA756-CB91-4E0B-BB34-FBCE14EE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 after launch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E3FD6-A29C-4EF1-B2A6-4758370F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481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7E6095-E8AD-4AD1-B938-1C34EEC3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4810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4766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014FAA-E742-4594-A51B-4509D9F4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CFDFF-2F36-4956-8F82-3431348A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Product Design Digital Playbook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D77F5-C7C4-4AA5-AA25-15125B91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4B87C-A75C-449E-BA16-5B06EF7B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PROCESS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E0922-0BD2-43D3-8630-EF052AEB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91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Nine gates take the work from idea to learning.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DFB2F-1E93-456D-A3FD-9D32DDDB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Each gate is a plain checkpoint. We only move on when the evidence is good enough for the next spend.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703F1-2073-4C2D-86C9-AA7CBEB5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04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1FB25-08AC-437B-9B8A-715B4DB3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1028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0C974-B213-4A9A-A1D0-33A260FF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38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E7456-665C-481A-B110-26AA8F4F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95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C79C0-FCE6-42F0-8D37-D18D8713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98E33-845C-45CA-B596-14B95FAA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004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64A1B-0AC2-4CF2-807E-9E432FD0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1028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A59EE-1DF9-4086-9E8C-F6B90E6C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38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2BF6E-C5E9-43A1-98F5-5D7204C1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95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4D685-6BA8-42DD-81AE-084790A6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385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BBAC3-C552-44D1-A6FF-9154D848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BF0B5-5780-4607-ABB9-81052C13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86100"/>
            <a:ext cx="1028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F4787D-28E8-4886-BC3C-A174449D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38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44A53-AEB3-4D0B-9756-BC5B8BFC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95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D663F-D34C-4D87-ABCE-1CFC0DA6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Define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D84C3E-1BBF-4D0F-91EB-A2FCB6F3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004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DEDE73-D327-4D54-BD05-D89C4BA9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86100"/>
            <a:ext cx="1028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35232F-5978-4C38-9118-1AE43F78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38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32EFC6-E4AE-4728-9EF8-E0FD6282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95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8639B0-07D1-4078-AE79-D6B3977E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A1E44-7459-4EDB-A52B-C983885D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004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DB40D3-11E9-4F61-AC53-FFEC5A98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86100"/>
            <a:ext cx="1028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45E7F7-5535-4B95-8EB2-63A98651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38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4994CB-C56D-46DA-9F08-466D1ACF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95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835648-6677-43F6-887A-591BF71E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385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896F97-7D14-43B9-9CD7-5EA6214E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31E314-5149-41B9-A69D-CB9A5221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86100"/>
            <a:ext cx="1028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980AF6-B7C3-4A7D-875B-6AB0992C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38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F80B36-FB54-4851-A038-1DAE48B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7AAC63-4532-405C-83E2-CBDF5F87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385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A206B8-6638-46D6-A0BF-A9DB8158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004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50C427-C427-4868-8DB8-EAF97A45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1028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FD9F35-CC24-45C6-84B7-8CC121DE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38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F38876-A4F1-497C-8D32-42A6394F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95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F779F4-D562-4E0F-911F-0D05C950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A2366A-AD36-4BB6-A77E-D9B2DDF6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004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30CCFA-F418-4811-9841-A3E541D6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86100"/>
            <a:ext cx="1028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367346-9D56-48EA-A087-5A95DC66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238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CCD498-F341-4EFC-B752-CF2CEBD0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295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88B289-6866-41EC-9C43-29903E37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385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Launch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E0AB04-3C3D-4837-A740-96A802F1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86100"/>
            <a:ext cx="1028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5FEC4A-BEBE-4E2A-9534-6DFE28BC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238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99943C-08EA-4657-B11F-9F0EB06D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295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AEC9AD-ED29-41D8-A2A5-85D7F18F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385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9DE17C-D4D4-47CF-83E5-3EAD463A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32766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F00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13728C-2DC7-43F7-A23A-E6D0DEBA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Frame the right problem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374907-AC8F-40F7-9476-3CCA6B8D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Opportunity fit, discovery, and problem clarity.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FFA109-C035-462B-9502-4789684D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3276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0CC7D5-B3E7-4547-B1B5-6BAA387D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482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Shape the right experience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0D11AB-7E41-4F53-BCA0-23842A7F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911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Concepts, prototypes, tests, and design decisions.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1D6B47-6AE8-461A-BAB5-D9116FAD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57750"/>
            <a:ext cx="3276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2F9E44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68B186-026D-4DEE-871F-1D87220E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482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Build and keep learning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8BCAEA-F957-43A5-A874-342B4024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911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Handoff, QA, launch, measurement, and improvement.</a:t>
            </a:r>
          </a:p>
        </p:txBody>
      </p:sp>
    </p:spTree>
    <p:extLst>
      <p:ext uri="{BB962C8B-B14F-4D97-AF65-F5344CB8AC3E}">
        <p14:creationId xmlns:p14="http://schemas.microsoft.com/office/powerpoint/2010/main" val="1130229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AFEC8A-4D7B-47A8-BEB9-6A9117DB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DDF2B-440F-4E6C-B7CB-71E03BD5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Product Design Digital Playbook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B610C-FD48-4C20-8C18-0494A682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5BC83-2566-4670-91DD-2DEBD2B8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59F0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59F00"/>
                </a:solidFill>
                <a:latin typeface="Aptos"/>
                <a:ea typeface="Aptos"/>
                <a:cs typeface="Aptos"/>
              </a:rPr>
              <a:t>PLAYBOOK 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B3E19-93C1-4242-B77B-3980D180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E49AD-5BC7-4514-A4B8-220D1CF9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672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Part 1 of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13CDD-A850-4A54-8B9D-12F63255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023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Prove the problem before designing the solution.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DE611-9E09-430B-87B4-A5FA8EDD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This first section makes sure the team agrees what is worth solving, who it is for, and what success will mean.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55D61-6362-4A96-8866-751731A0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0839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33188-3211-4E9E-B761-C15178A1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43150"/>
            <a:ext cx="3409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F0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D723D-4AE6-4808-827F-80ECB211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960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DC6F5-8471-4296-9513-6C92F960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95C2E-207E-4DEF-9692-EDCA92B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C9A78-35F7-46E7-A5D7-016BC787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87FA2-17F9-491D-94C4-4B67AF89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670A1B-A852-4A69-B949-D65F0793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5D5FC-FFDB-4953-A759-1E63BA72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63B48-EFF7-4FE4-B61A-E578909B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64F73-8CD5-4904-8248-627D1DFF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3D3F9F-A370-444C-9C54-6C1ADAA7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Define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02510-F851-47BF-99FD-B9A53ACB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444EBC-9300-4BDC-A7FE-C87B31AF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49289-2F33-403A-AD67-290CBAC4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D05576-0812-4213-B415-04B73F45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FF0CA3-3971-4EAB-9EA4-C8E955E9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4B24F5-559D-4DDB-BD01-7B527316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4BF4C1-CD55-43F1-85E8-FB031FA3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FF984A-81DB-4BB7-A700-6288D60F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4BEDFB-5509-47A3-B44C-2C8C26A8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E73AF9-17BD-48EC-89CA-F90D298B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260A90-46CB-459E-AAB1-AE49E97F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2B15D8-6001-499F-8D3E-704DBF7E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08465A-0D7D-408C-A33F-9CB2FE25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66BDF8-E506-491A-8D4A-C5977A1D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061024-B215-430D-A806-CCC2BDAE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Launch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2A2D40-C281-4F57-B92C-22D1018F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70B135-FF99-46C5-8383-AA538213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CF75D4-88DE-4EE4-9B13-32A77F5F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934809-0CA5-433C-BBA6-075B37AD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940B79-DD6B-4A9A-BCA7-906AE060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9D3CDD-96F1-493D-B947-BD17BE49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F0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DF961F-1169-414A-91C9-48DC3C2E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F7E254-9691-4A00-9C00-988812E3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Opportunity fit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CD761F-362D-4700-8BAD-4E0FDC45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Decide whether this is worth exploring.</a:t>
            </a:r>
          </a:p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Output: brief, owner, early measures, assumptions.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134051-D6D4-4830-A972-1F003A67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D893E3-B800-41F7-A3E7-0DC48456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E590D9-3571-494B-AA2F-A8BE15BA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F00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CC2925-AE49-4AD2-A750-03A7E646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B5D539-2730-4894-9128-C2021833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147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62A3CB-49BD-4947-BEC4-2B363A92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672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Understand people, context, and pain points.</a:t>
            </a:r>
          </a:p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Output: research notes, journey map, open questions.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8015D6-84F2-4328-966A-0A00E496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6BBAB4-6567-4EAD-9522-F6F6C24E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6C444F-0E68-45F3-9471-395C4A77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F00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75D8B4-F46B-4F91-8C1A-036F24FE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ED92D0-F2D2-4FEB-B77A-216C2A9A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147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Define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581BC5-3D9F-4B23-9051-7B7A7CF8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Choose the problem and success criteria.</a:t>
            </a:r>
          </a:p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Output: problem statement, user scenario, design principles.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BA54A0-89DE-4583-A4B0-C3899104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98488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9C2C13-796F-4071-A65B-8B56CC8B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9848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A5B978-2432-46B7-9538-6D5A5D3F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927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Plain meaning: name the user, the need, and the measure before spending build money.</a:t>
            </a:r>
          </a:p>
        </p:txBody>
      </p:sp>
    </p:spTree>
    <p:extLst>
      <p:ext uri="{BB962C8B-B14F-4D97-AF65-F5344CB8AC3E}">
        <p14:creationId xmlns:p14="http://schemas.microsoft.com/office/powerpoint/2010/main" val="4150703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F3041-8391-44A6-8B50-FAD7E4FD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A9428-5E35-457B-BFB2-C1B04B6C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Product Design Digital Playbook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0D22B-85E4-46FD-B1A7-17BA77CD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C8EE3-A288-4255-942B-EF97A8F3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PLAYBOOK 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B4072-A53F-430B-B64C-C0A69C00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044CC-A3C6-4762-8AE8-E2E4CC7A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672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Part 2 of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20860-1A50-4313-98AC-FEE539C2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023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Test the experience before committing the build.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CE897-DD05-49FF-AB78-061C4D0C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This middle section turns the idea into something people can react to before it becomes production software.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5F60D-3F03-4A12-8F8A-FB94CAEF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0839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BBEEE-C7C0-44DF-B8A5-73E64620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43150"/>
            <a:ext cx="3409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4B4CE-281D-4D8F-97D9-942E66DE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960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47E86-5A11-44BE-839A-29BF494A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11128-70EA-41B8-8F8D-E5C5D5F7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85455-7FC4-4391-957E-28311023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6D596-DBC5-49D9-B3C2-FE080A88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567A8-5B8E-461D-9561-88CA6071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1B272-9C12-4AE6-A81A-482A0D6E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64537-62F5-4B0D-B27A-FEE81A18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D315C-754A-4037-AFC4-27D556FC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B452A-FFEA-4F58-ACDA-E9C1A46E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Define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68BCF4-E058-42E3-B99A-2A17AD33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22B76-65FA-4B9A-AD05-4FC0FBF8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3E3EF8-4428-4CA8-822F-E19C5966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04CE0-6D86-4650-8152-8853F770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68E112-72D3-4DD6-AA99-1D1CD97F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11633-8976-49FA-816F-6EBE66A0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959552-BBC6-4D15-9ABE-700021D0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66C5BC-8AEB-4F93-AC63-C48A2C33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220C7C-7A37-4CB8-B8BB-82FBA3F7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E7CCFA-E320-40C0-AABA-FE6B361E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D39564-3EDB-4AC2-8DB0-D5C2C547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7FDFE8-1CD0-4F9C-A866-0A2CD4AB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3CB795-7629-4958-B5A3-F89A6532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356383-2330-429A-B650-1FBDC1FC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4BEF50-FACF-48A5-9BB4-01135F2F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Launch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8FFBB9-B869-4EEA-AAFA-656204AA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DAE049-582E-4983-9910-5DA573AC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2440D8-9793-437B-A15D-89B6B336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B9743F-B2E5-4C54-B6F9-10894ECF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32A313-6531-46B5-AF2C-B710E856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2365A2-2127-49E1-B403-43E74AD8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78B934-0DB4-4AB6-94F9-A79120DC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B2DBE0-FAE5-4AD3-8802-BAB22B64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Develop concepts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8D8B46-4CA1-4385-BA68-B6DB2C37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Try several solution directions before choosing.</a:t>
            </a:r>
          </a:p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Output: selected idea, risks, prototype plan.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7158BA-9390-4308-9743-E62FAABD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2F19D7-BBFB-425B-936B-0579DD4F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92E427-B5EF-469C-B0C3-ACF9BAC4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3BB872-21A7-42E4-A560-B6DDA7FC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12925C-64D5-4D2B-B6EE-AF0DC056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147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Prototype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29D374-B347-4141-8508-6A454B1A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672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Make the experience tangible with flows, content, and wireframes.</a:t>
            </a:r>
          </a:p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Output: clickable prototype.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C3EF7E-3D01-4E7E-8F77-915F8777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7C5A4E-7BAE-40A1-9DCA-C17C6E87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EF84A8-E6FB-42F3-8798-AB69595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BEEA17-F8C3-45A0-9847-7C23BB0C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1B760D-426F-4863-8D28-3D66B112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147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Validate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271F1A-B28B-42D0-B5A6-B2263A19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Test with users and evidence.</a:t>
            </a:r>
          </a:p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Output: usability, accessibility, and content improvements.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83F430-16CF-4BFC-8755-9476286D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98488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94B8D20-F491-46CF-8C9C-5C35A250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9848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F27EB3C-7B11-4920-80C8-8D704EE9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927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Plain meaning: learn cheaply while the product is still easy to change.</a:t>
            </a:r>
          </a:p>
        </p:txBody>
      </p:sp>
    </p:spTree>
    <p:extLst>
      <p:ext uri="{BB962C8B-B14F-4D97-AF65-F5344CB8AC3E}">
        <p14:creationId xmlns:p14="http://schemas.microsoft.com/office/powerpoint/2010/main" val="8895541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B22507-60C5-424D-A5F1-0BF68579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ADE77-0528-4984-B7BE-DDDD44DD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Product Design Digital Playbook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753C5-CEB6-4826-8511-DC4CD41F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E0D53-D742-4094-B86B-E9621857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F9E44"/>
                </a:solidFill>
                <a:latin typeface="Aptos"/>
                <a:ea typeface="Aptos"/>
                <a:cs typeface="Aptos"/>
              </a:rPr>
              <a:t>PLAYBOOK 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001F0-2AF4-49CA-A3A3-FB5E960D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E0F56-BFED-460B-AF38-FCB3C9BD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672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Part 3 of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0FF91-4996-4275-953D-832D5228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023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Build the whole product system, not just screens.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D67CF-9008-43E4-8A62-CAED4D5C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This final section prepares the app for real use, safe launch, and practical learning after it ships.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516F5-9E7F-415A-A5A9-C2B6BA51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0839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C88C1-5DD7-4D71-ABAB-0313B9C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343150"/>
            <a:ext cx="3409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2F9E4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2F2C5-D51F-449E-BE21-3645CAB3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960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9E1AE-0F05-4E65-8CCF-B8909727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7B178-69FA-4042-B6E0-C194F97E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C6A88-8C0F-407A-9AAE-CA65B0B2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52B86-2DA8-4473-BFD1-3EE32911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72048-FA19-484E-B4D6-3F370473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B7D2F-5804-4F24-B649-224BFA72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99DD3-8E92-4FF9-AE3C-9D56472C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D1FD4-AC41-4828-9766-2F2EC951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D9BA7-089C-4197-A752-634D664A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Define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4914A-2F98-44E5-8C39-72D3EB25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327717-1B63-4E6A-9273-1474ADA0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F8B3E-CFD9-4694-A70A-6E93849F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8E127-5261-44A9-B438-3CDF5C02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8C68E-1CA4-4D4E-8391-6271466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F503B2-632F-4708-8861-810D0F64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98DB94-38C1-45EE-AA82-1979BC61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166CD-820B-478A-8409-8DBC3EA0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8809A8-0692-46B2-91B6-7944121F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7F2323-DD25-4DCF-86ED-675089B1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DDCAF4-E125-4FB8-9933-42F9DFD6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FAA7AD-8F7C-4757-88C1-9E58F1D5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12D8EA-7CA8-43C5-8D73-AF291F03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9549E1-6714-4CF2-8D97-6D688D96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7E5135-67FD-40BD-A878-6D7E71C1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Launch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D1D706-B200-4970-B8B4-06BE2D00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24590A-3C30-4056-AAC7-4E7EEAC6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860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D137D4-DBD6-495D-BC51-751ED416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61FCB6-7CAA-4F9D-BF6E-33ECBF12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1075B7-AAA8-4C55-8693-8A4DD54D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C53331-F433-46F2-8BCA-BE251A2C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2F9E44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20D1A7-460A-4DC4-BE8C-0FE18197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FDA4DB-AA10-4800-8319-D0D8DDE3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Delivery design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4B515D-3C4B-4A7D-A50C-9BD31096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Prepare the product for build.</a:t>
            </a:r>
          </a:p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Output: specs, backlog slices, acceptance criteria.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866885-8869-4CFF-9553-59ADBE88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1D98FD-2667-4270-A370-39DA7664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47989C-C4BA-4ABB-BB9D-BCE30CC3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2F9E44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F6F5E7-FBD4-4452-8AF0-0FC5E81E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79D73D-CEB8-4F6B-A053-AE987AE2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147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Build and launch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083ECC-A5A7-4DAD-92E1-F937A7FB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672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Ship the right thing safely.</a:t>
            </a:r>
          </a:p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Output: design QA, accessibility checks, launch checklist.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5751D9-8862-46FA-B8FE-192CE61A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6EEC19-61AA-4B92-B6C7-D8B52B23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DAC61F-9A23-40AA-86B9-DB40D486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2F9E44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87AA1A-1C56-4095-BB8E-0F15D8E8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96CDAF-E083-4188-9A68-4A39CA6B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147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Learn and improve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7F4FA5-8DEE-45E1-AEB4-BB3B2F0A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73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Measure what happened after launch.</a:t>
            </a:r>
          </a:p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Output: outcome review, debt triage, roadmap updates.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2FCEE5-8DCE-4797-AF0F-BAF7F86E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98488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32DCC8-08D8-4C14-8086-C850E7C2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9848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2452E6-FD25-41E2-844F-6E137547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927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Plain meaning: the product is finished only when it can be used, measured, and improved.</a:t>
            </a:r>
          </a:p>
        </p:txBody>
      </p:sp>
    </p:spTree>
    <p:extLst>
      <p:ext uri="{BB962C8B-B14F-4D97-AF65-F5344CB8AC3E}">
        <p14:creationId xmlns:p14="http://schemas.microsoft.com/office/powerpoint/2010/main" val="1616294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D97658-253F-46AD-B6A7-02474F7B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D17D4-485B-4026-ACC2-90A0864D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Product Design Digital Playbook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319E4-FBAD-41B8-A6B2-A3631FDE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B47BE-83BD-4EEE-AF1B-30DDFE22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BUILD OPTION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F9599-BEAB-4900-8858-38C89577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90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24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Internal separate teams know the business, but coordination becomes the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39B2B-5260-4D9F-B837-91478C17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This can work, but only if one person owns decisions and the teams reserve real time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2DD22-B72B-4ADB-810A-90DF7377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2286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F0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C1A09-D532-4B83-9008-09E25411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0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D6F23-6236-45F4-8153-DF79E17F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sets priorities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9E896-CC5E-4399-BBAA-E3C5CA0C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2286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40777-4123-4B60-8D1F-5627248F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00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DCFF3-1994-4217-9D50-916177FA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maps the 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C639D-2F56-4753-A0BD-DE8FDD9A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43200"/>
            <a:ext cx="2286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4AA0D-CA16-4F93-86D7-66CBF1B8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0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77DA0-F30C-4E04-9D2F-4EEECEE2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956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builds and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9CBC7-0B55-4DF2-8D1D-9B66426C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8135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6EF1B-C0E3-46D1-A449-9496C33A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05651-1B98-4703-B678-20D5CC3E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1620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9480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90D94-9D16-40A3-8CC5-100ABD93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765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46625-7FC4-4BF6-BB2A-EC7F9A7E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385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97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handoff drag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893645-34EF-4217-B5C7-4FBE68C7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3162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666AC-A96A-438D-B791-47B0E7D2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Works best when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0B9AC1-22F4-489E-BB82-533D3692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Named people are assigned, calendars are protected, and there is one product owner who can make tradeoffs fast.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137BD-03F2-4B64-B605-04B09C7D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38650"/>
            <a:ext cx="3943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F0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50926-E085-490B-B21D-C7A73FBE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1010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Main challenge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3039B-FDE9-48D0-9B5B-1C28E95B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91100"/>
            <a:ext cx="3562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Separate team goals can slow decisions. The product may look finished before the workflow, quality checks, and launch support are truly ready.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F630A4-B46C-4CB6-9180-E45763C2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38650"/>
            <a:ext cx="1962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A6EA9-1373-4AF0-9632-F766144E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101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Cost shape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1F024C-AE1C-4B7D-8D04-94C48350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911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625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Lower visible cash cost, but higher hidden cost in meetings, waiting, rework, and stretched timelines.</a:t>
            </a:r>
          </a:p>
        </p:txBody>
      </p:sp>
    </p:spTree>
    <p:extLst>
      <p:ext uri="{BB962C8B-B14F-4D97-AF65-F5344CB8AC3E}">
        <p14:creationId xmlns:p14="http://schemas.microsoft.com/office/powerpoint/2010/main" val="17346842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33023C-2590-43F4-8BFD-B40215F5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6A220-427D-4B88-A147-D1B66FAE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Product Design Digital Playbook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16DF4-5C25-477B-B0E1-18B3D545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36CA1-3731-4671-9E76-C4506A9D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BUILD OPTION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0E6E3-F681-41A5-AB1B-F7B89788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91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An external agency gives one accountable delivery team.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9987F-2832-4966-8A47-78638F3C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The tradeoff is simple: more upfront cash, less internal coordination, and faster access to product, design, engineering, and QA specialists.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225FC-933C-420B-8D8C-6623EADD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0005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15CD8-A4B3-4CDD-9193-BD25AD66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shared 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0351C-5EAF-4BF7-ACB7-FCF332DF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147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A2DFE-0209-4FB7-924A-E2FFE423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814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5E5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5E57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31729-3102-42CE-933B-3F59185D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D03F5-C605-4CAA-831A-CDBA31F3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814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C45DF-C3D4-4861-926F-C9676B72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1447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01758-0EC1-4485-A550-5E4B13F8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9577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8BB87-6228-4C1B-ADCB-777CE6D7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29100"/>
            <a:ext cx="742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E9A0B-4527-4202-A13D-591345DA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957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QA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65F8E-D979-4DBA-B46F-B1CA19B4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8630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1569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backlog. One sprint rhythm. One build plan.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F262F-1E8F-4BAE-963B-673FB839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052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9DB231-5A34-43B3-BEB4-A2932516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62350"/>
            <a:ext cx="2133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B4D85-5C32-444A-9555-5CE99890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75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Playbook gates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BC882A-6363-494B-9A19-1D0D1B67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386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evidence before spend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4FAE7-AA69-43FF-AC32-208FCF62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E46827-BBE0-43F2-AB2B-8D56D3A4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62350"/>
            <a:ext cx="1752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9E4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9BD85D-A946-42BE-B7A6-41E6E82E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433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554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Launchable 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AB44D6-8000-44EF-8370-17F665F6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with support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762CFE-7A7C-4B10-AB86-678F937B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320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A5E573-6E03-43D7-A98C-06EB3E6A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38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Works best when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BBA1EC-2AEF-4C5A-9B49-16DF143E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19800"/>
            <a:ext cx="28194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20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An internal owner is available every week. Subject experts join research, reviews, and launch decisions.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978D5E-1AD8-4B86-B91F-86BF0A49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67350"/>
            <a:ext cx="320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F0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8E7892-9B00-446A-97C0-F082D035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38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Main challenge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75313A-60CB-4B0E-8DA6-4FEE75ED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019800"/>
            <a:ext cx="28194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20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Knowledge transfer must be planned from day one so the product does not leave with the agency.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CBA8C6-B420-431C-9858-B0AA9FC8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67350"/>
            <a:ext cx="2743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2F9E4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CD7D12-B28E-4EA9-8624-479E628D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6388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Cost shape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5FE3CC-DFE1-4BBA-834C-C643E080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019800"/>
            <a:ext cx="23622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20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Higher cash cost, clearer scope, stronger delivery rhythm, and easier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8874813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EB0C5C-BACC-444A-A750-3AB50DE8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A256C-63F7-49AE-9EC1-09B3AC65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Planning ranges based on current public cost guides; not a quote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977D0-0A11-4FA3-90AA-81BA8D82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E51E8-A8B2-4621-BFE1-DE1368B2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COST AND MODEL CHOICE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FC7F7-A38A-4AE9-9E50-37C13220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91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The decision is not just cost. It is where the risk sits.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E0F3B-8EBB-4BAE-9124-3F164CFF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The same product can cost less in cash but more in delay, or more in cash but less in coordination.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70138-9E41-4D42-B331-CEA985CB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76500"/>
            <a:ext cx="3086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F0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5159F-5AE7-43B6-A6A4-3231C0CC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3886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2F9E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E7D63-FEB4-4AF4-9CDB-E1364AED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28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Internal separate teams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789D3-0349-4BB8-A880-E03BF750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2890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External agency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F4782-A3A3-4077-878E-01F63C3D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Visible cost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B7A1E-54AD-411D-84F9-F30E80D7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3372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Lower cash spend because people already work here.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F2C7E-BC63-4D5E-AF46-6243AF10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33725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$180k-$320k planning range for a full first version.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C3AD4-139E-4468-98B3-49C52597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956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2C4A9-C8EE-4E31-BECE-7CB2FCBF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DBBD0-0506-4447-8E35-23246C44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4807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Often 5-8 months when people are part-time.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5DA22-C7D1-40C2-8E56-76610AE8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48075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Often 12-16 weeks with a dedicated team.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7126B-D224-420F-89C0-3774AC24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956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73DF5-702C-4E53-95D7-B3173A3D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Main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5ECF8E-B876-4068-8C36-F28F023D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6242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Waiting, handoffs, and rework between teams.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18872-E35B-40AA-8AC2-DF4749DA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62425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Vendor dependency and knowledge transfer.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72584-B2BC-4221-9339-540092A9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956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0EF017-1E49-4360-A768-B8A507B8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677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49CD5A-7136-4A59-9D81-73670C6A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7677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High control, but decisions can spread out.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46A90-526E-4E1A-90B3-3F9791B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76775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Clearer delivery owner, with internal product owner still needed.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F26A83-A3C4-437E-8CF2-9A667C7B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56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A52D00-5466-4B84-96C1-E53FFCA9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Best fit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AD0280-7A35-412D-82D9-D369D18C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9112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When teams can truly reserve time together.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698C25-9BF4-435A-BF9F-DCE21D4B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91125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When speed, quality, and accountability matter most.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948101-5640-40DD-919E-8788CCED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56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C5AB55-1976-418E-B4B2-8F9D5984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95631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49D47B-2C6F-4AE2-9A0A-2504BDAE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910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785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larger hosted or enterprise path can move beyond $350k-$650k+ if multi-tenancy, billing, compliance, or deep integrations are added.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FBBC3F-BFC4-452E-A4E6-CDAA2F81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Sources: Clutch 2026 pricing guide; Keyhole Software 2026 cost benchmarks.</a:t>
            </a:r>
          </a:p>
        </p:txBody>
      </p:sp>
    </p:spTree>
    <p:extLst>
      <p:ext uri="{BB962C8B-B14F-4D97-AF65-F5344CB8AC3E}">
        <p14:creationId xmlns:p14="http://schemas.microsoft.com/office/powerpoint/2010/main" val="12031929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E19529-8D0D-4D96-8788-F2A08654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2B70D-BC6E-418E-B266-9E1E52CC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3D146-9C24-4A33-B448-E8067986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27D9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9112F-8404-455E-8DD7-22EC8880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RECOMMENDED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9CBF7-58C6-4C4A-8F06-3D754EA2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Use the playbook with one accountable build team.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49283-7E7B-4D98-9DC4-BB17586E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856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Best option: external agency team, led by an internal product owner. If the work stays internal, form one dedicated product pod instead of keeping teams separate.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F76DD-93EF-4989-9E70-DE01D805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7505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7161D-00DE-448D-8E42-21C2A35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16A8C-7613-4848-BE42-B78C2C73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38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70740-D8B6-4BF1-B95A-5EDCCEE2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38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8F87A-BE10-4182-8E72-401F3C03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194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FDCC4-22A6-4A6F-A1E0-153DBCFE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194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C6AD9-C12B-4A63-BE31-0AC17FE9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194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03578-C99F-4D6B-9190-8C1F1473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7813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CECD9-833A-4151-B9F7-2CC5CE0E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Days 1-30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F0EF3-A139-4929-8A9F-0E5629C5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Frame the opportunity. Run discovery. Agree the problem, users, and success measures.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DB71D-31E8-48FE-AE18-C3BBE0D1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27813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45998-C37B-448B-BCA5-24805118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672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Days 31-60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D08D3-8F39-4810-8FF7-05B5FFC2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4820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Create concepts. Prototype the strongest path. Test it with real users and improve 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00E74-B83D-4CE7-984A-0113D3C0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95750"/>
            <a:ext cx="27813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2F9E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72F30-3EB9-40CF-B432-BF0DACC0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672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Days 61-90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129055-65BA-4F27-A7D1-570D85E8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4820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Prepare build-ready scope, budget, roadmap, QA plan, and launch decision.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5737B-3F7B-495F-8115-F946C39A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14400"/>
            <a:ext cx="24765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DA51D-0045-449C-99AD-E6E59F76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143000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089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Approve a playbook-led productization sprint.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C7231-24BC-47D0-B34D-B226D3BE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133600"/>
            <a:ext cx="933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E610C-A6DD-4CBB-958E-B696A88C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2002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A85F2A-337F-4BB7-A26F-AE68C300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146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3529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Choose build model and budget range.</a:t>
            </a:r>
          </a:p>
        </p:txBody>
      </p:sp>
    </p:spTree>
    <p:extLst>
      <p:ext uri="{BB962C8B-B14F-4D97-AF65-F5344CB8AC3E}">
        <p14:creationId xmlns:p14="http://schemas.microsoft.com/office/powerpoint/2010/main" val="268048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2026-06-03T05:29:08.4180000Z</dcterms:created>
  <dcterms:modified xsi:type="dcterms:W3CDTF">2026-06-03T05:29:08.4180000Z</dcterms:modified>
</coreProperties>
</file>